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Saludo. Presentar el proyecto: una plataforma para intercambiar excedentes de energía. Hoy veremos cómo 12 patrones resuelven problemas reales en backend y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Contexto: problema, solución y alcance. Es un prototipo académico: sin pagos ni hardware real; el estado se persiste en archivos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Usuarios: productor, consumidor y doble rol. Cuatro subsistemas: compra-venta, subastas, IoT y predicción.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en dos capas: React/TypeScript y Laravel/PHP, con persistencia JSON. Cada capa implementa los mismos patrones en su lenguaje.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Mapa: 4 creacionales, 7 estructurales y 1 de comportamiento. Los nuevos son Flyweight y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Singleton: un solo MarketService, LoggerService y ConfigService en PHP, y un solo EnergyApiService en TS. Así todos comparten el mismo estado y el mismo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Factory Method: EnergySourceFactory crea solar/wind/hydro; PredictorFactory crea daily/weekly; EnergyCardFactory crea las tarjetas. Añadir un tipo solo toca la fábrica.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Method: AbstractPredictor define predict() y las subclases solo cambian los datos. El panel compara el cálculo local (TS) con el del backend (PHP).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Builder: el asistente construye la oferta paso a paso; el director tiene la variante personalizada y la exprés.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Prototype: copy() clona y reinicia id y stock; el registry entrega copias de plantillas, nunca la plantilla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Adapter: DeviceGateway unifica medidores SCADA (texto) e inversores (JSON). DeviceMonitorService solo conoce la interfaz común.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EnergyBill (residencial/comercial) se combina con CurrencyBridge (COP/USD/EUR) sin crear 6 clases.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Decorator: BasicOffer se envuelve con verde +5%, seguro +3% y prioridad +$8.000; cualquier combinación es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Composite: OfferLeaf y EnergyBundle comparten BundleComponent; los totales se suman recursivamente.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Facade: EnergyPlatformFacade coordina mercado, IoT, configuración, predicción y liquidación en 5 operaciones.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Flyweight: 3 descriptores compartidos (solar/wind/hydro); el estado extrínseco queda en cada oferta. Mostrar /flyweight-stats para ver instancias compartidas vs usos.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Proxy: virtual, caché TTL 10 s y protección de 1 a 100 kWh. Mostrar dos lecturas para activar la caché y la compra de 999 kWh bloqueada.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seguir el orden de las tarjetas. Cada paso muestra un patrón en la app, no solo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12 patrones, 2 capas, 1 proyecto. Agradecer y abrir el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DADE2"/>
                </a:solidFill>
                <a:latin typeface="Calibri"/>
              </a:rPr>
              <a:t>PATRONES DE DISEÑO  ·  BACKEND +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7406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Plataforma de
Comercio de 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D6EAF8"/>
                </a:solidFill>
                <a:latin typeface="Calibri"/>
              </a:rPr>
              <a:t>12 patrones aplicados a un mercado real de excedentes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5C1E9"/>
                </a:solidFill>
                <a:latin typeface="Calibri"/>
              </a:rPr>
              <a:t>Laravel + PHP   ·   React + TypeScript   ·   26 implementaciones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FB3D5"/>
                </a:solidFill>
                <a:latin typeface="Calibri"/>
              </a:rPr>
              <a:t>Exposición de Patrones de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057400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0304" y="2057400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30967" y="2057400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71632" y="2057400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798064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4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2798064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30967" y="2798064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71632" y="2798064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538728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3538728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0967" y="3538728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48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71632" y="3538728"/>
            <a:ext cx="585216" cy="585216"/>
          </a:xfrm>
          <a:prstGeom prst="roundRect">
            <a:avLst>
              <a:gd name="adj" fmla="val 18000"/>
            </a:avLst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6177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AED6F1"/>
                </a:solidFill>
                <a:latin typeface="Calibri"/>
              </a:rPr>
              <a:t>12 patrones
× 2 capas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El proyecto en 30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02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3520440" cy="3566160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35204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30175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2C3E50"/>
                </a:solidFill>
                <a:latin typeface="Calibri"/>
              </a:rPr>
              <a:t>Los excedentes de pequeños productores se pierden: no hay un canal simple para publicarlos, compararlos y venderlos.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600200"/>
            <a:ext cx="3520440" cy="3566160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600200"/>
            <a:ext cx="3520440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SOLUCIÓN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0175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2C3E50"/>
                </a:solidFill>
                <a:latin typeface="Calibri"/>
              </a:rPr>
              <a:t>Un mercado virtual para publicar excedentes, comprar energía, subastar, integrar IoT y predecir producción y consumo.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600200"/>
            <a:ext cx="3520440" cy="3566160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600200"/>
            <a:ext cx="3520440" cy="8229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0195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17A65"/>
                </a:solidFill>
                <a:latin typeface="Calibri"/>
              </a:rPr>
              <a:t>ALCANCE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331720"/>
            <a:ext cx="30175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2C3E50"/>
                </a:solidFill>
                <a:latin typeface="Calibri"/>
              </a:rPr>
              <a:t>Prototipo académico: sin pagos ni hardware real. El estado se persiste en archivos JSON.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32120"/>
            <a:ext cx="11000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Un prototipo funcional que conecta producción, consumo y predicción.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Usuarios y subsistemas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USUARIOS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Productor — </a:t>
            </a:r>
            <a:r>
              <a:rPr sz="1500">
                <a:solidFill>
                  <a:srgbClr val="2C3E50"/>
                </a:solidFill>
                <a:latin typeface="Calibri"/>
              </a:rPr>
              <a:t>genera energía y vende sus excedentes.</a:t>
            </a:r>
          </a:p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Consumidor — </a:t>
            </a:r>
            <a:r>
              <a:rPr sz="1500">
                <a:solidFill>
                  <a:srgbClr val="2C3E50"/>
                </a:solidFill>
                <a:latin typeface="Calibri"/>
              </a:rPr>
              <a:t>compra la energía disponible.</a:t>
            </a:r>
          </a:p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Doble rol — </a:t>
            </a:r>
            <a:r>
              <a:rPr sz="1500">
                <a:solidFill>
                  <a:srgbClr val="2C3E50"/>
                </a:solidFill>
                <a:latin typeface="Calibri"/>
              </a:rPr>
              <a:t>puede producir y consumir a la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17A65"/>
                </a:solidFill>
                <a:latin typeface="Calibri"/>
              </a:rPr>
              <a:t>CUATRO SUBSISTEMAS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1. Compra y venta — </a:t>
            </a:r>
            <a:r>
              <a:rPr sz="1500">
                <a:solidFill>
                  <a:srgbClr val="2C3E50"/>
                </a:solidFill>
                <a:latin typeface="Calibri"/>
              </a:rPr>
              <a:t>ofertas, compras e historial.</a:t>
            </a:r>
          </a:p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2. Subastas — </a:t>
            </a:r>
            <a:r>
              <a:rPr sz="1500">
                <a:solidFill>
                  <a:srgbClr val="2C3E50"/>
                </a:solidFill>
                <a:latin typeface="Calibri"/>
              </a:rPr>
              <a:t>mejor oferta en tiempo real.</a:t>
            </a:r>
          </a:p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3. IoT — </a:t>
            </a:r>
            <a:r>
              <a:rPr sz="1500">
                <a:solidFill>
                  <a:srgbClr val="2C3E50"/>
                </a:solidFill>
                <a:latin typeface="Calibri"/>
              </a:rPr>
              <a:t>medidores e inversores simulados.</a:t>
            </a:r>
          </a:p>
          <a:p>
            <a:pPr marL="219456" indent="-219456">
              <a:lnSpc>
                <a:spcPct val="108000"/>
              </a:lnSpc>
              <a:spcAft>
                <a:spcPts val="1400"/>
              </a:spcAft>
              <a:buClr>
                <a:srgbClr val="2E86C1"/>
              </a:buClr>
              <a:buFont typeface="Arial"/>
              <a:buChar char="•"/>
            </a:pPr>
            <a:r>
              <a:rPr sz="1500" b="1">
                <a:solidFill>
                  <a:srgbClr val="2C3E50"/>
                </a:solidFill>
                <a:latin typeface="Calibri"/>
              </a:rPr>
              <a:t>4. Predicción — </a:t>
            </a:r>
            <a:r>
              <a:rPr sz="1500">
                <a:solidFill>
                  <a:srgbClr val="2C3E50"/>
                </a:solidFill>
                <a:latin typeface="Calibri"/>
              </a:rPr>
              <a:t>producción y consumo.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D6D7E"/>
                </a:solidFill>
                <a:latin typeface="Calibri"/>
              </a:rPr>
              <a:t>CÓMO FLUYE LA ENERGÍA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4069080"/>
            <a:ext cx="1554480" cy="512064"/>
          </a:xfrm>
          <a:prstGeom prst="roundRect">
            <a:avLst>
              <a:gd name="adj" fmla="val 25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Productor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4133087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5A5A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069080"/>
            <a:ext cx="1554480" cy="512064"/>
          </a:xfrm>
          <a:prstGeom prst="roundRect">
            <a:avLst>
              <a:gd name="adj" fmla="val 25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Publica oferta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4133087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5A5A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8" y="4069080"/>
            <a:ext cx="1554480" cy="512064"/>
          </a:xfrm>
          <a:prstGeom prst="roundRect">
            <a:avLst>
              <a:gd name="adj" fmla="val 25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4133087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5A5A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4069080"/>
            <a:ext cx="1554480" cy="512064"/>
          </a:xfrm>
          <a:prstGeom prst="roundRect">
            <a:avLst>
              <a:gd name="adj" fmla="val 25000"/>
            </a:avLst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4133087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5A5A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4069080"/>
            <a:ext cx="1554480" cy="512064"/>
          </a:xfrm>
          <a:prstGeom prst="roundRect">
            <a:avLst>
              <a:gd name="adj" fmla="val 25000"/>
            </a:avLst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Consumidor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49240"/>
            <a:ext cx="11000232" cy="56692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13248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D4B04"/>
                </a:solidFill>
                <a:latin typeface="Calibri"/>
              </a:rPr>
              <a:t>Un mismo usuario puede ser productor y consumidor: el mercado conecta ambos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Dos capas, los mismos patrones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417320"/>
            <a:ext cx="9171432" cy="9144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08760" y="1417320"/>
            <a:ext cx="82296" cy="914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563624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Calibri"/>
              </a:rPr>
              <a:t>FRONTEND  ·  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11095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D7E"/>
                </a:solidFill>
                <a:latin typeface="Calibri"/>
              </a:rPr>
              <a:t>10 paneles + patrones del navegador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350008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86C1"/>
                </a:solidFill>
                <a:latin typeface="Calibri"/>
              </a:rP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5000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5A5A6"/>
                </a:solidFill>
                <a:latin typeface="Calibri"/>
              </a:rPr>
              <a:t>HTTP /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734056"/>
            <a:ext cx="9171432" cy="91440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2734056"/>
            <a:ext cx="82296" cy="9144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2880360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Calibri"/>
              </a:rPr>
              <a:t>BACKEND  ·  Laravel + 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27832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D7E"/>
                </a:solidFill>
                <a:latin typeface="Calibri"/>
              </a:rPr>
              <a:t>EnergyController + patrones del 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666744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86C1"/>
                </a:solidFill>
                <a:latin typeface="Calibri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66674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5A5A6"/>
                </a:solidFill>
                <a:latin typeface="Calibri"/>
              </a:rPr>
              <a:t>lectura / escritura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4050791"/>
            <a:ext cx="9171432" cy="914400"/>
          </a:xfrm>
          <a:prstGeom prst="rect">
            <a:avLst/>
          </a:prstGeom>
          <a:solidFill>
            <a:srgbClr val="E8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08760" y="4050791"/>
            <a:ext cx="82296" cy="914400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4197096"/>
            <a:ext cx="8595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Calibri"/>
              </a:rPr>
              <a:t>PERSISTENCIA  ·  JSON en storage/app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44568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D7E"/>
                </a:solidFill>
                <a:latin typeface="Calibri"/>
              </a:rPr>
              <a:t>market_data · logger_data · flyweight_data · proxy_cache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89320"/>
            <a:ext cx="11000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Cada capa resuelve el mismo problema en su lenguaje.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Los 12 patrones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CREACIONALES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10512"/>
            <a:ext cx="3520440" cy="274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83664"/>
            <a:ext cx="3520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  <a:latin typeface="Calibri"/>
              </a:rPr>
              <a:t>Cómo se crean los objetos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12848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12848"/>
            <a:ext cx="54864" cy="4023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6771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Singleton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88336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688336"/>
            <a:ext cx="54864" cy="4023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74320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Factory 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63824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163824"/>
            <a:ext cx="54864" cy="4023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21868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39312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639312"/>
            <a:ext cx="54864" cy="40233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694176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14813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17A65"/>
                </a:solidFill>
                <a:latin typeface="Calibri"/>
              </a:rPr>
              <a:t>ESTRUCTURALES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4256" y="1810512"/>
            <a:ext cx="3520440" cy="2743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6" y="1883664"/>
            <a:ext cx="3520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  <a:latin typeface="Calibri"/>
              </a:rPr>
              <a:t>Cómo se componen los objetos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2212848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2212848"/>
            <a:ext cx="54864" cy="40233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26771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Adapter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2688336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2688336"/>
            <a:ext cx="54864" cy="40233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74320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Bridge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4256" y="3163824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3163824"/>
            <a:ext cx="54864" cy="40233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3218688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Decorator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3639312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34256" y="3639312"/>
            <a:ext cx="54864" cy="40233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694176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Composite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114800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34256" y="4114800"/>
            <a:ext cx="54864" cy="402336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169663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Facade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4256" y="4590288"/>
            <a:ext cx="3520440" cy="402336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34256" y="4590288"/>
            <a:ext cx="54864" cy="40233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4645151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E5109"/>
                </a:solidFill>
                <a:latin typeface="Calibri"/>
              </a:rPr>
              <a:t>Flyweight   ·   NUEVO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4256" y="5065775"/>
            <a:ext cx="3520440" cy="402336"/>
          </a:xfrm>
          <a:prstGeom prst="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34256" y="5065775"/>
            <a:ext cx="54864" cy="40233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98848" y="5120639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E5109"/>
                </a:solidFill>
                <a:latin typeface="Calibri"/>
              </a:rPr>
              <a:t>Proxy   ·   NUEVO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14813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COMPORTAMIENTO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810512"/>
            <a:ext cx="3520440" cy="2743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4152" y="1883664"/>
            <a:ext cx="3520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D6D7E"/>
                </a:solidFill>
                <a:latin typeface="Calibri"/>
              </a:rPr>
              <a:t>Cómo colaboran los objetos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4152" y="2212848"/>
            <a:ext cx="3520440" cy="402336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4152" y="2212848"/>
            <a:ext cx="54864" cy="40233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38744" y="226771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Abstract / Template Method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06440"/>
            <a:ext cx="11000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26 implementaciones documentadas con UML, código, endpoints y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01  ·  CREACIONAL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Singleton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“Una sola instancia y un punto de acceso global.”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El mercado, los logs y la configuración no pueden estar duplicados.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MarketService, LoggerService y ConfigService (PHP).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EnergyApiService: un único cliente HTTP (TS).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MarketService.php · EnergyApiService.ts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Todos los paneles comparten el mismo estado y el mismo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02  ·  CREACIONAL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Factory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“Recibe un tipo y devuelve la clase concreta correcta.”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Crear objetos según el tipo sin llenar el código de “new”.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EnergySourceFactory: solar / wind / hydro.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PredictorFactory y EnergyCardFactory.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EnergySourceFactory.php · EnergyCardFactory.tsx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Catálogo de fuentes y tarjetas de energía; un tipo inválido responde 422.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03  ·  COMPORTAMIENTO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Abstract / Template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“El esqueleto del algoritmo vive en la base; las subclases cambian los datos.”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La predicción diaria y la semanal comparten toda la lógica.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AbstractPredictor::predict() define los pasos.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DailyPredictor y WeeklyPredictor solo aportan los datos.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AbstractPredictor.php · Predictor.ts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PredictionPanel compara el cálculo local (TS) y el del backend (PHP).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04  ·  CREACIONAL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09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“Construye un objeto complejo paso a paso.”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Publicar una oferta implica muchos campos y variantes.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EnergyOfferBuilder expone los pasos encadenables.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OfferDirector: oferta personalizada y oferta exprés.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EnergyOfferBuilder.php · EnergyOfferBuilder.ts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Asistente de 6 pasos en CreateOffer; POST /offers y /offers/express.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05  ·  CREACIONAL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10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“Un objeto se copia a sí mismo y entrega un clon independiente.”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Se publican ofertas parecidas una y otra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OfferPrototype::copy() reinicia id, stock y fecha.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PrototypeRegistry guarda plantillas por tipo de energía.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OfferPrototype.php · PrototypeRegistry.ts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Duplicar oferta: el clon no altera el original ni la plantilla.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06  · 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11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“Traduce una interfaz incompatible a la que el cliente espera.”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Medidores SCADA (texto) e inversores PV (JSON) hablan distinto.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DeviceGateway es la interfaz común.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LegacyScadaAdapter y PvInverterAdapter traducen cada formato.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DeviceGateway.php · DeviceGateway.ts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DevicePanel muestra los datos crudos y los normalizados lado a 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07  · 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12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“Separa abstracción e implementación para que varíen por separado.”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Perfil (residencial/comercial) × moneda (COP/USD/EUR) = 6 clases.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EnergyBill: ResidentialBill y CommercialBill.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CurrencyBridge: CopCurrency, UsdCurrency y EurCurrency.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EnergyBill.php · CurrencyBridge.ts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Matriz 2×3 de liquidaciones; añadir una moneda no toca los perfiles.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08  · 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Decorator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13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“Añade comportamiento envolviendo el objeto, sin una clase por combinación.”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Tres extras generan 8 combinaciones posibles.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BasicOffer + Green (+5%), Insurance (+3%), Priority (+$8.000).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OfferPricingService envuelve según los extras elegidos.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OfferDecorator.php · OfferDecorator.ts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OfferExtrasPanel recompone el total y lo compara con el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09  · 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Composite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“Trata hojas y contenedores por igual; los totales se calculan recursivamente.”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Un paquete puede contener ofertas u otros paquetes.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BundleComponent: interfaz común.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OfferLeaf (hoja) y EnergyBundle (compuesto).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EnergyBundle.php · EnergyBundle.ts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BundlePanel añade ofertas y recalcula el total de todo el árbol.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PATRÓN 10  · 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15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“Una interfaz simple para coordinar muchos subsistemas.”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El cliente tendría que conocer y coordinar ocho servicios.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EnergyPlatformFacade: dashboard, publicar, comprar, asesoría, IoT.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PlatformFacade delega desde el frontend.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EnergyPlatformFacade.php · PlatformFacade.ts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Una sola llamada a /platform/dashboard trae todo el panel.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39C12"/>
                </a:solidFill>
                <a:latin typeface="Calibri"/>
              </a:rPr>
              <a:t>PATRÓN 11  ·  ESTRUCTURAL  · 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Flyweight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“Comparte lo que se repite; deja fuera lo único de cada objeto.”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Cada oferta solar repite nombre, color y eficiencia del tipo.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Intrínseco: descriptor del tipo de energía (3 instancias).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Extrínseco: productor, kWh y precio, en cada oferta.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EnergySourceFlyweightFactory.php · EnergyTypeFlyweightFactory.ts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Tres descriptores compartidos para todas las ofertas; /flyweight-stats.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39C12"/>
                </a:solidFill>
                <a:latin typeface="Calibri"/>
              </a:rPr>
              <a:t>PATRÓN 12  ·  ESTRUCTURAL  · 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00232" cy="804672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80467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561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0" i="1">
                <a:solidFill>
                  <a:srgbClr val="1A5276"/>
                </a:solidFill>
                <a:latin typeface="Calibri"/>
              </a:rPr>
              <a:t>“Mismo contrato que el objeto real, pero controla el acceso.”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5349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Consultar el mercado es costoso y las compras necesitan reglas.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48716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17A65"/>
                </a:solidFill>
                <a:latin typeface="Calibri"/>
              </a:rPr>
              <a:t>EN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1635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Virtual: crea MarketService solo cuando se necesita.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>
                <a:solidFill>
                  <a:srgbClr val="2C3E50"/>
                </a:solidFill>
                <a:latin typeface="Calibri"/>
              </a:rPr>
              <a:t>Caché TTL 10 s + protección de compras de 1 a 100 kWh.</a:t>
            </a:r>
          </a:p>
          <a:p>
            <a:pPr marL="219456" indent="-219456">
              <a:lnSpc>
                <a:spcPct val="108000"/>
              </a:lnSpc>
              <a:spcAft>
                <a:spcPts val="1200"/>
              </a:spcAft>
              <a:buClr>
                <a:srgbClr val="117A65"/>
              </a:buClr>
              <a:buFont typeface="Arial"/>
              <a:buChar char="•"/>
            </a:pPr>
            <a:r>
              <a:rPr sz="1600" b="1">
                <a:solidFill>
                  <a:srgbClr val="2C3E50"/>
                </a:solidFill>
                <a:latin typeface="Calibri"/>
              </a:rPr>
              <a:t>Archivos: </a:t>
            </a:r>
            <a:r>
              <a:rPr sz="1600">
                <a:solidFill>
                  <a:srgbClr val="2C3E50"/>
                </a:solidFill>
                <a:latin typeface="Calibri"/>
              </a:rPr>
              <a:t>MarketProxy.php · EnergyApiProxy.ts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532120"/>
            <a:ext cx="11000232" cy="658368"/>
          </a:xfrm>
          <a:prstGeom prst="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5532120"/>
            <a:ext cx="82296" cy="65836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96128"/>
            <a:ext cx="10561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E5109"/>
                </a:solidFill>
                <a:latin typeface="Calibri"/>
              </a:rPr>
              <a:t>Demo  ·  </a:t>
            </a:r>
            <a:r>
              <a:rPr sz="1300" b="0">
                <a:solidFill>
                  <a:srgbClr val="5D4B04"/>
                </a:solidFill>
                <a:latin typeface="Calibri"/>
              </a:rPr>
              <a:t>Dos lecturas activan la caché; una compra de 999 kWh se bloquea.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D6D7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0584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5276"/>
                </a:solidFill>
                <a:latin typeface="Calibri"/>
              </a:rPr>
              <a:t>Recorrido por la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32918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  <a:latin typeface="Calibri"/>
              </a:rPr>
              <a:t>18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4591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673351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Publicar oferta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1671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Factory Method +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54203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Crea una oferta real desde el asistente.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508760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508760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64591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673351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Duplicar / plantilla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1671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54203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Parte de una oferta o plantilla existente.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1508760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508760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1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1673351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Predecir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21671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Abstract / Template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254203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Compara el cálculo TS con el PHP.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291839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291839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899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34564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Dispositivos y liquidar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3950207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Adapter + 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32511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Unifica dispositivos y emite la liquidación.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4256" y="3291839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3291839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42899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4564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Extras y paquetes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3950207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Decorator + Composite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32511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Añade extras y agrupa ofertas.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4152" y="3291839"/>
            <a:ext cx="3520440" cy="1572768"/>
          </a:xfrm>
          <a:prstGeom prst="rect">
            <a:avLst/>
          </a:prstGeom>
          <a:solidFill>
            <a:srgbClr val="F8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3291839"/>
            <a:ext cx="73152" cy="157276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42899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ED6F1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34564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5276"/>
                </a:solidFill>
                <a:latin typeface="Calibri"/>
              </a:rPr>
              <a:t>Panel y métricas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3950207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7A65"/>
                </a:solidFill>
                <a:latin typeface="Calibri"/>
              </a:rPr>
              <a:t>Facade + Flyweight + Proxy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7384" y="432511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D7E"/>
                </a:solidFill>
                <a:latin typeface="Calibri"/>
              </a:rPr>
              <a:t>Panel único, métricas y bloqueo de compras.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760720"/>
            <a:ext cx="11000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D6D7E"/>
                </a:solidFill>
                <a:latin typeface="Calibri"/>
              </a:rPr>
              <a:t>Cada patrón se demuestra en la app, no solo en el código.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DADE2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8580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12 patrones.
2 capas.
1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08000"/>
              </a:lnSpc>
              <a:spcAft>
                <a:spcPts val="900"/>
              </a:spcAft>
              <a:buClr>
                <a:srgbClr val="F39C12"/>
              </a:buClr>
              <a:buFont typeface="Arial"/>
              <a:buChar char="•"/>
            </a:pPr>
            <a:r>
              <a:rPr sz="1500">
                <a:solidFill>
                  <a:srgbClr val="D6EAF8"/>
                </a:solidFill>
                <a:latin typeface="Calibri"/>
              </a:rPr>
              <a:t>Cada patrón resuelve un problema real del proyecto.</a:t>
            </a:r>
          </a:p>
          <a:p>
            <a:pPr marL="219456" indent="-219456">
              <a:lnSpc>
                <a:spcPct val="108000"/>
              </a:lnSpc>
              <a:spcAft>
                <a:spcPts val="900"/>
              </a:spcAft>
              <a:buClr>
                <a:srgbClr val="F39C12"/>
              </a:buClr>
              <a:buFont typeface="Arial"/>
              <a:buChar char="•"/>
            </a:pPr>
            <a:r>
              <a:rPr sz="1500">
                <a:solidFill>
                  <a:srgbClr val="D6EAF8"/>
                </a:solidFill>
                <a:latin typeface="Calibri"/>
              </a:rPr>
              <a:t>Backend y frontend, con UML, código y endpoints.</a:t>
            </a:r>
          </a:p>
          <a:p>
            <a:pPr marL="219456" indent="-219456">
              <a:lnSpc>
                <a:spcPct val="108000"/>
              </a:lnSpc>
              <a:spcAft>
                <a:spcPts val="900"/>
              </a:spcAft>
              <a:buClr>
                <a:srgbClr val="F39C12"/>
              </a:buClr>
              <a:buFont typeface="Arial"/>
              <a:buChar char="•"/>
            </a:pPr>
            <a:r>
              <a:rPr sz="1500">
                <a:solidFill>
                  <a:srgbClr val="D6EAF8"/>
                </a:solidFill>
                <a:latin typeface="Calibri"/>
              </a:rPr>
              <a:t>Flyweight y Proxy: las implementaciones nuevas.</a:t>
            </a:r>
          </a:p>
          <a:p>
            <a:pPr marL="219456" indent="-219456">
              <a:lnSpc>
                <a:spcPct val="108000"/>
              </a:lnSpc>
              <a:spcAft>
                <a:spcPts val="900"/>
              </a:spcAft>
              <a:buClr>
                <a:srgbClr val="F39C12"/>
              </a:buClr>
              <a:buFont typeface="Arial"/>
              <a:buChar char="•"/>
            </a:pPr>
            <a:r>
              <a:rPr sz="1500">
                <a:solidFill>
                  <a:srgbClr val="D6EAF8"/>
                </a:solidFill>
                <a:latin typeface="Calibri"/>
              </a:rPr>
              <a:t>Demo funcional de punta a punta.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709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39C12"/>
                </a:solidFill>
                <a:latin typeface="Calibri"/>
              </a:rPr>
              <a:t>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53492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B3D5"/>
                </a:solidFill>
                <a:latin typeface="Calibri"/>
              </a:rPr>
              <a:t>Plataforma de Comercio de Energía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